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现状核对自 apps/web/src：App.tsx 单屏 + 顶部三按钮；GameView 三态（等待/断线/对局）；组件 PlayerPanel/BoardView/StatusBar/DrawProgress/EliminationNotices/GameResultOverlay/ConnectionPanel 均存在，问题在信息组织而非组件缺失。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映射：BoardView/PlayerPanel/EliminationNotices/GameResultOverlay 直接复用；StatusBar 拆分为 Header（模式/联机信息）+ GameStatus（行动方/提示）；DrawProgress 迁入 GameStatus 并改为读取当前 mode 的阈值。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所有跳转均为前端路由层变化；GamePage 由 modeId + session 类型（local/online）参数化，本地与联机共用同一页面组件。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B9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暗棋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8745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7EF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信息架构与低保真原型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9B9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产品骨架施工图 —— 先定“功能放在哪里”，再做视觉设计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1783080" cy="566928"/>
          </a:xfrm>
          <a:prstGeom prst="roundRect">
            <a:avLst>
              <a:gd name="adj" fmla="val 8065"/>
            </a:avLst>
          </a:prstGeom>
          <a:solidFill>
            <a:srgbClr val="3A2C1D"/>
          </a:solidFill>
          <a:ln w="15875">
            <a:solidFill>
              <a:srgbClr val="6B5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947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EF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本地双人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3794760"/>
            <a:ext cx="1783080" cy="566928"/>
          </a:xfrm>
          <a:prstGeom prst="roundRect">
            <a:avLst>
              <a:gd name="adj" fmla="val 8065"/>
            </a:avLst>
          </a:prstGeom>
          <a:solidFill>
            <a:srgbClr val="3A2C1D"/>
          </a:solidFill>
          <a:ln w="15875">
            <a:solidFill>
              <a:srgbClr val="6B54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37947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EF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本地三人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3794760"/>
            <a:ext cx="1783080" cy="566928"/>
          </a:xfrm>
          <a:prstGeom prst="roundRect">
            <a:avLst>
              <a:gd name="adj" fmla="val 8065"/>
            </a:avLst>
          </a:prstGeom>
          <a:solidFill>
            <a:srgbClr val="3A2C1D"/>
          </a:solidFill>
          <a:ln w="15875">
            <a:solidFill>
              <a:srgbClr val="6B54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37947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EF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联机双人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3794760"/>
            <a:ext cx="1783080" cy="566928"/>
          </a:xfrm>
          <a:prstGeom prst="roundRect">
            <a:avLst>
              <a:gd name="adj" fmla="val 8065"/>
            </a:avLst>
          </a:prstGeom>
          <a:solidFill>
            <a:srgbClr val="3A2C1D"/>
          </a:solidFill>
          <a:ln w="15875">
            <a:solidFill>
              <a:srgbClr val="6B54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7947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EF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联机三人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B9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依据：评审通过后作为下一阶段 UI 实现的施工依据 · 不改变任何游戏规则 / 协议 / 核心逻辑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B9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v0.1 · 基线 v0.3.0-ws-client · 2026-09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现状盘点 · AS-IS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 UI：单屏堆叠，缺少产品骨架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212080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18488"/>
            <a:ext cx="5212080" cy="0"/>
          </a:xfrm>
          <a:prstGeom prst="line">
            <a:avLst/>
          </a:prstGeom>
          <a:noFill/>
          <a:ln w="12700">
            <a:solidFill>
              <a:srgbClr val="8A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现状：一个页面承载全部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234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app.tsx（单屏）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737360"/>
            <a:ext cx="4937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本地·两人   本地·三人   联机·三人   ← 模式切换按钮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轮到 玩家A（将帅兵卒阵营）· 第 4 手          [新对局]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532888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3288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玩家A 将帅兵卒阵营 ｜ 玩家B 红色棋子阵营 ｜ 玩家C 黑色棋子阵营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34440" y="32461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1640" y="32461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32461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32461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32461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32461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32461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32461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37033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91640" y="37033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48840" y="37033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37033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3240" y="37033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0440" y="37033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77640" y="37033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37033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34440" y="41605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91640" y="41605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1605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06040" y="41605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63240" y="41605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20440" y="41605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77640" y="41605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34840" y="41605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34440" y="46177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91640" y="46177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48840" y="46177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06040" y="46177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63240" y="46177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46177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77640" y="46177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34840" y="4617720"/>
            <a:ext cx="429768" cy="429768"/>
          </a:xfrm>
          <a:prstGeom prst="roundRect">
            <a:avLst>
              <a:gd name="adj" fmla="val 638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5212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连续未吃子：3 / 40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94360" y="55138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联机中：房间 room-1 · 本机玩家 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4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上次操作被拒：notCurrentPlayer: 尚未轮到该玩家行动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080760" y="12344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720840" y="1234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没有首页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720840" y="154533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游戏页面顶部长期挂着模式切换按钮，页面职责混淆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80760" y="2002536"/>
            <a:ext cx="562356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0760" y="207568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6720840" y="2075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四个入口不完整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6720840" y="238658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联机只有三人入口，联机双人无法进入（服务端已支持 2 座位）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080760" y="2843784"/>
            <a:ext cx="562356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0760" y="291693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6720840" y="29169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没有设置页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720840" y="322783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音效不可关、默认服务器不可配、无版本信息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080760" y="3685032"/>
            <a:ext cx="562356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80760" y="375818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720840" y="37581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调试信息上屏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6720840" y="40690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notCurrentPlayer 等错误码直接展示给用户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080760" y="4526280"/>
            <a:ext cx="562356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80760" y="459943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6720840" y="45994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信息全堆一层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720840" y="49103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回合/提示/和棋进度/联机状态混排，无 Header/状态区分层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080760" y="5367528"/>
            <a:ext cx="562356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80760" y="54406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6720840" y="5440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Overlay 无体系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6720840" y="575157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淘汰、终局、断线各自独立实现，无统一层级规范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信息架构 · SITEMAP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三级页面结构：一级 3 页 + 游戏页 + 三级房间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图例：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078992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07899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10512" y="1078992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0512" y="107899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23744" y="1078992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07899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36976" y="10789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12700">
            <a:solidFill>
              <a:srgbClr val="A79E8D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236976" y="10789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81144" y="1078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现状标注（已有 / 需改造 / 需新建 / 仅占位）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600200"/>
            <a:ext cx="22860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首页（开始）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1993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57400" y="166420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166420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77640" y="1600200"/>
            <a:ext cx="22860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77640" y="1993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/online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166420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66420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1600200"/>
            <a:ext cx="22860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0" y="1993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/settings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98280" y="166420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166420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1268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底部导航三 Tab（移动端同构）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2697480"/>
            <a:ext cx="2286000" cy="1554480"/>
          </a:xfrm>
          <a:prstGeom prst="roundRect">
            <a:avLst>
              <a:gd name="adj" fmla="val 2941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本地双人暗棋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057400" y="280720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280720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3090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点击即开局 → GamePage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本地三人暗棋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057400" y="344728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57400" y="344728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热座轮流 · 进入 GamePage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首页即“开始游戏”选择页（二级为内容卡，不设独立页）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00200" y="4251960"/>
            <a:ext cx="2331720" cy="128016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977640" y="2697480"/>
            <a:ext cx="2286000" cy="960120"/>
          </a:xfrm>
          <a:prstGeom prst="roundRect">
            <a:avLst>
              <a:gd name="adj" fmla="val 4762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2770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模式选择：双人联机 / 三人联机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4800" y="3246120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0" y="324612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改造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00600" y="324612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12700">
            <a:solidFill>
              <a:srgbClr val="A79E8D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4800600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双人联机·Future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977640" y="3749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三级：房间页（服务器 / 房间 ID / 座位 / 重连）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120640" y="4297680"/>
            <a:ext cx="0" cy="41148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977640" y="470916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6908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房间页 Room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623560" y="4791456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23560" y="47914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069080" y="5074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满员自动开局 → GamePage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309360" y="5074920"/>
            <a:ext cx="1554480" cy="54864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498080" y="2697480"/>
            <a:ext cx="2286000" cy="960120"/>
          </a:xfrm>
          <a:prstGeom prst="roundRect">
            <a:avLst>
              <a:gd name="adj" fmla="val 4762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89520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游戏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339328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音效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089136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外观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589520" y="31729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339328" y="31729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589520" y="3291840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9520" y="32918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58952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五个分组，明细见设置页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863840" y="5623560"/>
            <a:ext cx="3840480" cy="777240"/>
          </a:xfrm>
          <a:prstGeom prst="roundRect">
            <a:avLst>
              <a:gd name="adj" fmla="val 5882"/>
            </a:avLst>
          </a:prstGeom>
          <a:solidFill>
            <a:srgbClr val="F6F2E9"/>
          </a:solidFill>
          <a:ln w="25400">
            <a:solidFill>
              <a:srgbClr val="8A6D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01000" y="56875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GamePage（游戏进行页）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881360" y="5715000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881360" y="571500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改造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8001000" y="6035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 / 联机共用 · 信息分区见后页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2651760" y="5440680"/>
            <a:ext cx="5166360" cy="365760"/>
          </a:xfrm>
          <a:prstGeom prst="line">
            <a:avLst/>
          </a:prstGeom>
          <a:noFill/>
          <a:ln w="25400">
            <a:solidFill>
              <a:srgbClr val="8A6D3B"/>
            </a:solidFill>
            <a:prstDash val="dash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4114800" y="6035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房间页箭头：联机开局后进入 GamePage（联机态）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页面清单 · PAGE LIST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哪些已有、哪些改造、哪些只是占位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1371600"/>
                <a:gridCol w="1188720"/>
                <a:gridCol w="44165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页面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路由建议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现状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首页（开始）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新增底部导航；本地两入口即首页内容卡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联机模式选择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/online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现 ConnectionPanel 升级为模式选择 + 入口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联机房间（3P）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/online/room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连接/座位/等待/重连，逻辑全部已实现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联机房间（2P）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/online/room?2p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79E8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Future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服务端已支持 2 座位，UI 仅留入口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GamePage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/game/:mode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一级（全屏）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复用全部现有组件，仅做信息分区重排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/settings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五分组；音效/默认服务器可先实装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最近对局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首页占位区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Future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79E8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Future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需要持久化，当前仅虚线占位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好友 / 邀请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房间页占位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Future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79E8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Future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依赖账号体系，不实现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对局记录 / 复盘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Future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Future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79E8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Future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actionLog 已具雏形，产品后置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结论：没有页面需要推倒重做 —— 一级/二级是“重排与补壳”，三级房间页逻辑已在 Stage 4–7 完成。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一级页面 · 首页（开始）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 = 本地模式选择页，四入口在两张图内讲清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949440" cy="5212080"/>
          </a:xfrm>
          <a:prstGeom prst="roundRect">
            <a:avLst>
              <a:gd name="adj" fmla="val 877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6949440" cy="0"/>
          </a:xfrm>
          <a:prstGeom prst="line">
            <a:avLst/>
          </a:prstGeom>
          <a:noFill/>
          <a:ln w="12700">
            <a:solidFill>
              <a:srgbClr val="8A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88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188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5998464"/>
            <a:ext cx="2170176" cy="329184"/>
          </a:xfrm>
          <a:prstGeom prst="roundRect">
            <a:avLst>
              <a:gd name="adj" fmla="val 16667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7368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9016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83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暗棋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快速开始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651760"/>
            <a:ext cx="3063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本地双人暗棋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063240" y="2834640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28346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两人热座 · 同一屏幕轮流操作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5204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520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77640" y="2651760"/>
            <a:ext cx="3063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本地三人暗棋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2834640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8346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605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三人热座 · 三阵营渐进绑定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60520" y="35204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3520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251960"/>
            <a:ext cx="63093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联机对战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" y="4690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双人 / 三人房间 · 服务器权威 · 断线重连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32120" y="443484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E8930C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4434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进入联机 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4636008"/>
            <a:ext cx="128016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1520" y="5212080"/>
            <a:ext cx="6309360" cy="731520"/>
          </a:xfrm>
          <a:prstGeom prst="roundRect">
            <a:avLst>
              <a:gd name="adj" fmla="val 6250"/>
            </a:avLst>
          </a:prstGeom>
          <a:solidFill>
            <a:srgbClr val="F3F1EC"/>
          </a:solidFill>
          <a:ln w="15875">
            <a:solidFill>
              <a:srgbClr val="A79E8D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14400" y="53492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12700">
            <a:solidFill>
              <a:srgbClr val="A79E8D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914400" y="5349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83080" y="5349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最近对局 / 继续对局 —— 依赖持久化，仅占位不实现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381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设计要点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13816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本地双击即玩：不设中间选择页，首页即本地模式选择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138160" y="22585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联机收敛为一个入口：进入后先选 双人 / 三人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138160" y="282549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底部导航三 Tab 与移动端同构，PC 同布局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138160" y="339242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顶部不再出现模式切换按钮（移出游戏页）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138160" y="39593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Future 区只画虚线，不写实现承诺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二级页面 · 联机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联机层是通用能力：模式只决定用哪个 GameMode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949440" cy="5212080"/>
          </a:xfrm>
          <a:prstGeom prst="roundRect">
            <a:avLst>
              <a:gd name="adj" fmla="val 877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6949440" cy="0"/>
          </a:xfrm>
          <a:prstGeom prst="line">
            <a:avLst/>
          </a:prstGeom>
          <a:noFill/>
          <a:ln w="12700">
            <a:solidFill>
              <a:srgbClr val="8A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88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188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/online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46832" y="5998464"/>
            <a:ext cx="2170176" cy="329184"/>
          </a:xfrm>
          <a:prstGeom prst="roundRect">
            <a:avLst>
              <a:gd name="adj" fmla="val 16667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368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9016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选择联机模式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2286000"/>
            <a:ext cx="3063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双人联机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120" y="2907792"/>
            <a:ext cx="2212848" cy="256032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12700">
            <a:solidFill>
              <a:srgbClr val="A79E8D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60120" y="29077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入口预留 · Future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复用 2P GameMode 与既有规则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同一房间 / 会话 / 超时 / 重连能力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 2 个座位，开局条件 = 2 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77640" y="2286000"/>
            <a:ext cx="3063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三人联机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206240" y="2907792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90779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三阵营 · 渐进绑定 · 淘汰留子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0624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现已可完整对局（Stage 2–7）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06240" y="384048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840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 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3200400"/>
            <a:ext cx="128016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1381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架构说明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3816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服务端 GameRoom 的 seatIds 本就参数化（2/3 座位均支持）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38160" y="22585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UI 模式选择 → 决定创建房间的 GameMode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38160" y="282549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WebSocketGameSession / 协议 / 重连全部复用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138160" y="339242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本阶段不为 2P 联机写实现，只保留正式入口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138160" y="39593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双人联机卡标注 Future：防误点、明示未开放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三级页面 · 联机房间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 ConnectionPanel 的正式化改造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949440" cy="5212080"/>
          </a:xfrm>
          <a:prstGeom prst="roundRect">
            <a:avLst>
              <a:gd name="adj" fmla="val 877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6949440" cy="0"/>
          </a:xfrm>
          <a:prstGeom prst="line">
            <a:avLst/>
          </a:prstGeom>
          <a:noFill/>
          <a:ln w="12700">
            <a:solidFill>
              <a:srgbClr val="8A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88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房间 room-1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188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/online/room?mode=3p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46832" y="5998464"/>
            <a:ext cx="2170176" cy="329184"/>
          </a:xfrm>
          <a:prstGeom prst="roundRect">
            <a:avLst>
              <a:gd name="adj" fmla="val 16667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368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9016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194560"/>
            <a:ext cx="30632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加入房间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2377440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3774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服务器地址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2999232"/>
            <a:ext cx="26974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2999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ws://localhost:8787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4015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（默认值可来自 设置-联机）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7033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房间 ID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959352"/>
            <a:ext cx="26974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3959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room-1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48056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480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加入房间（不存在即创建）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6177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检测到本机重连令牌 → 显示“恢复座位”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77640" y="2194560"/>
            <a:ext cx="30632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当前房间玩家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60520" y="2743200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 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已连接 · 阵营待定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60520" y="3310128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79E8D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297680" y="3310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 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310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等待加入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160520" y="3877056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79E8D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297680" y="3877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 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3877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等待加入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60520" y="4526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2/3 · 满员自动开局 [已有]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60520" y="480060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8C7B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48006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退出房间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1520" y="5257800"/>
            <a:ext cx="6309360" cy="685800"/>
          </a:xfrm>
          <a:prstGeom prst="roundRect">
            <a:avLst>
              <a:gd name="adj" fmla="val 6667"/>
            </a:avLst>
          </a:prstGeom>
          <a:solidFill>
            <a:srgbClr val="F3F1EC"/>
          </a:solidFill>
          <a:ln w="15875">
            <a:solidFill>
              <a:srgbClr val="A79E8D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14400" y="539496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12700">
            <a:solidFill>
              <a:srgbClr val="A79E8D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914400" y="5394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783080" y="5394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好友房 · 房间密码 · 观战席位 · 快速匹配 —— 依赖账号/匹配系统，仅占位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381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要点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138160" y="16916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身份由服务器分配（A/B/C），客户端不可自选 —— 维持安全边界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138160" y="235000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重连令牌保存在本机；断线刷新后凭令牌恢复座位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138160" y="30083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2P 房间复用本页，仅座位数为 2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138160" y="366674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“创建房间”= 输入不存在的房间 ID，无需独立流程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GamePage · 整体布局（PC）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从“一屏堆叠”到六分区；现有组件全部复用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7680960" cy="5193792"/>
          </a:xfrm>
          <a:prstGeom prst="roundRect">
            <a:avLst>
              <a:gd name="adj" fmla="val 880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91056"/>
            <a:ext cx="7680960" cy="0"/>
          </a:xfrm>
          <a:prstGeom prst="line">
            <a:avLst/>
          </a:prstGeom>
          <a:noFill/>
          <a:ln w="12700">
            <a:solidFill>
              <a:srgbClr val="8A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070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207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/game/3p-online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709928"/>
            <a:ext cx="74066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099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返回    模式·房间 chip（联机时）    连接状态 ●    ⚙ 设置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7739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Header [改造：吸收 StatusBar 的模式/联机信息]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286000"/>
            <a:ext cx="74066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395728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3957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玩家A · 阵营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2395728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F9E9CC"/>
          </a:solidFill>
          <a:ln w="25400">
            <a:solidFill>
              <a:srgbClr val="E893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23957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玩家B · 阵营 ●当前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2395728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23957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玩家C · 阵营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807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Players [已有组件]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3081528"/>
            <a:ext cx="484632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3355848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90472" y="3355848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20824" y="3355848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1176" y="3355848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81528" y="3355848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11880" y="3355848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42232" y="3355848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72584" y="3355848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3886200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90472" y="3886200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20824" y="3886200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51176" y="3886200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81528" y="3886200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3886200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42232" y="3886200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72584" y="3886200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0120" y="4416552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90472" y="4416552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20824" y="4416552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51176" y="4416552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81528" y="4416552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11880" y="4416552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42232" y="4416552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72584" y="4416552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" y="4946904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90472" y="4946904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20824" y="4946904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51176" y="4946904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81528" y="4946904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11880" y="4946904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42232" y="4946904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72584" y="4946904"/>
            <a:ext cx="502920" cy="502920"/>
          </a:xfrm>
          <a:prstGeom prst="roundRect">
            <a:avLst>
              <a:gd name="adj" fmla="val 5455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58887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Board [已有 BoardView · 棋盘为视觉主体]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577840" y="3081528"/>
            <a:ext cx="2331720" cy="315468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15000" y="3172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GameStatus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715000" y="3493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当前行动：玩家B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715000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手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715000" y="4133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操作提示：轮到你翻棋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715000" y="4453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未吃子 ▓▓▓░ 12/40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715000" y="4727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   ▓░░░ 2/5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715000" y="50932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[已有 DrawProgress 迁入]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[StatusBar 拆分至此]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715000" y="5687568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5875">
            <a:solidFill>
              <a:srgbClr val="A79E8D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5806440" y="5687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调试面板（默认折叠）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737360" y="1773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Toast 区（顶部居中，短暂自动消失）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36676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分区原则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8366760" y="16916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Header：返回 / 模式·房间 / 连接状态 / 设置入口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8366760" y="23134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Players：只放公开状态（座位·阵营·淘汰·当前）</a:t>
            </a:r>
            <a:endParaRPr lang="en-US" sz="1250" dirty="0"/>
          </a:p>
        </p:txBody>
      </p:sp>
      <p:sp>
        <p:nvSpPr>
          <p:cNvPr id="69" name="Text 67"/>
          <p:cNvSpPr/>
          <p:nvPr/>
        </p:nvSpPr>
        <p:spPr>
          <a:xfrm>
            <a:off x="8366760" y="293522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Board：视觉主体，联机时同样居中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8366760" y="355701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GameStatus：行动方·手数·提示·和棋进度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8366760" y="41788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Toast/Overlay：见下一页体系规范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8366760" y="48006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调试信息退出正式 UI（默认折叠，见后页）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GamePage · 玩家信息区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PlayerPanel 卡片解剖：只展示公开状态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5661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356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阵营：将帅兵卒阵营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状态：对局中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532888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F3F1EC"/>
          </a:solidFill>
          <a:ln w="15875">
            <a:solidFill>
              <a:srgbClr val="A79E8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49808" y="2532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Future：剩余棋子数（可由公开盘面推导）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325880"/>
            <a:ext cx="35661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8575">
            <a:solidFill>
              <a:srgbClr val="E893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4356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 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75120" y="1453896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45389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当前行动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1892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阵营：将帅兵卒阵营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8056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状态：对局中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2532888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F3F1EC"/>
          </a:solidFill>
          <a:ln w="15875">
            <a:solidFill>
              <a:srgbClr val="A79E8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90288" y="2532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Future：剩余棋子数（可由公开盘面推导）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1325880"/>
            <a:ext cx="35661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4356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 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1040" y="1892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阵营：将帅兵卒阵营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2104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状态：已淘汰（划线 + 灰显）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321040" y="2532888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F3F1EC"/>
          </a:solidFill>
          <a:ln w="15875">
            <a:solidFill>
              <a:srgbClr val="A79E8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430768" y="2532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Future：剩余棋子数（可由公开盘面推导）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55778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566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数据来源（全部为服务器权威公开字段）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players[].factionId —— 阵营绑定后公开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43525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players[].eliminated —— 淘汰标记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47731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players[].connected（联机 roomStatus）—— 离线角标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1937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currentPlayerId —— 当前行动高亮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" y="56144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未翻开棋子的一切信息：不出现（公共棋盘冻结设计）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3429000"/>
            <a:ext cx="5330952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5661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联机补充态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3931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“玩家 B（离线）”小角标：来自 roomStatus.players[].connected；断线玩家不淘汰、计时继续 —— 与服务器规则一致，UI 只呈现。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83680" y="4892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淘汰展示同时出现在：玩家卡（划线）+ Toast（一次性原因说明）+ 记录于对局信息，三者共用同一事件，不重复弹窗。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GamePage · 游戏状态区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GameStatus：行动方、手数、上下文提示、和棋进度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当前行动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 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将帅兵卒阵营 · 第 12 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操作提示（按上下文切换）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175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“轮到你翻棋” / “选中棋子后点击目标格” / “等待其他玩家行动”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54864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和棋进度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5074920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F6F2E9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507492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 w="9525">
            <a:solidFill>
              <a:srgbClr val="E893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5074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连续未吃子 12 / 40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532120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F6F2E9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532120"/>
            <a:ext cx="402336" cy="274320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 w="9525">
            <a:solidFill>
              <a:srgbClr val="8A6D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5532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重复局面 2 /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280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要点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173736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进度阈值读取当前 GameMode 配置（修复现有从 2P 常量硬编码读取的问题）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251460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操作提示按状态机切换：你翻棋 / 你选择目标 / 等待对手 / 强制翻棋（无可走子时）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329184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强制翻棋提示：有隐藏棋子且无合法走吃 → “没有可移动的棋子，请翻开一枚”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406908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联机时状态区并入回合倒计时占位（倒计时只是 UI，权威在服务器）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GamePage · Overlay / Toast 体系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两条通知通道：短暂 Toast 与模态 Overlay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0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Toast（顶部居中 · 短暂 · 不阻塞操作）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玩家A 无合法行动，已判负并淘汰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0624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 EliminationNotices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542032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420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⏱ 玩家A 操作超时，已判负并淘汰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25420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已有（reason=timeout）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255264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552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还没轮到你行动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0" y="32552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新增：替代错误码直出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968496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684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该动作不符合规则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06240" y="39684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新增：illegalAction 用户化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681728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817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连接已断开，正在重连…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06240" y="4681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539496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94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已恢复座位 玩家A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06240" y="5394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新增：重连成功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1280160"/>
            <a:ext cx="5330952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Overlay（模态 · 终局/连接重大事件）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29400" y="1828800"/>
            <a:ext cx="4892040" cy="603504"/>
          </a:xfrm>
          <a:prstGeom prst="roundRect">
            <a:avLst>
              <a:gd name="adj" fmla="val 7576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82880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胜利（阵营判据）：“红色棋子阵营获胜”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058400" y="182880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 GameResultOverlay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2578608"/>
            <a:ext cx="4892040" cy="603504"/>
          </a:xfrm>
          <a:prstGeom prst="roundRect">
            <a:avLst>
              <a:gd name="adj" fmla="val 7576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257860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胜利（最后活跃玩家）：“玩家C获胜（黑色…）”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058400" y="257860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 winnerPlayerId 支持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29400" y="3328416"/>
            <a:ext cx="4892040" cy="603504"/>
          </a:xfrm>
          <a:prstGeom prst="roundRect">
            <a:avLst>
              <a:gd name="adj" fmla="val 7576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32841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和棋：“重复局面达 5 次 / 连续 40 步未吃子”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058400" y="332841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9400" y="4078224"/>
            <a:ext cx="4892040" cy="603504"/>
          </a:xfrm>
          <a:prstGeom prst="roundRect">
            <a:avLst>
              <a:gd name="adj" fmla="val 7576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407822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断线卡片：连接已断开 + [重连] [返回]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058400" y="40782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 GameView 断线态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29400" y="4828032"/>
            <a:ext cx="4892040" cy="603504"/>
          </a:xfrm>
          <a:prstGeom prst="roundRect">
            <a:avLst>
              <a:gd name="adj" fmla="val 7576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6766560" y="482803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Future：复盘入口、举报 —— 仅占位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058400" y="48280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层级规范：Toast &lt; Overlay &lt; 系统弹窗；Toast 3–4s 自动消失；Overlay 必须给出“返回 / 再来一局”出口；不遮挡棋盘超过必要时长。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信息分层 · 用户文案与调试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正式 UI 说人话；错误码进调试面板 / console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服务器拒绝码（调试）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正式 UI 文案（用户可见）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C7B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notCurrentPlayer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还没轮到你行动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C7B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illegalAction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这个动作不符合规则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C7B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playerEliminated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你已被淘汰，无法继续操作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C7B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gameOver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对局已结束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C7B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roomClosed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房间已满或已开局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C7B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invalidToken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重连失败，请重新加入房间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1280160"/>
            <a:ext cx="5029200" cy="402336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5875">
            <a:solidFill>
              <a:srgbClr val="A79E8D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858000" y="1417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DebugPanel [新建 · 仅开发模式可见]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开发模式开关（localStorage / URL ?debug=1）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0" y="23042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最近一次拒绝：code + reason 原文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0" y="277977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连接事件日志：open / state / rejected / eliminated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0" y="325526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当前权威状态 JSON 查看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0" y="37307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服务器地址 / 房间 / 本机令牌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0" y="44805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 online.lastError 的原文输出移入此处；正式 UI 只显示用户文案。调试能力不删除。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5760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所有拒绝事件同时写入 console（开发与正式一致），便于联机排障。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一级页面 · 设置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五分组信息架构；实装项与占位项分明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949440" cy="5212080"/>
          </a:xfrm>
          <a:prstGeom prst="roundRect">
            <a:avLst>
              <a:gd name="adj" fmla="val 877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6949440" cy="0"/>
          </a:xfrm>
          <a:prstGeom prst="line">
            <a:avLst/>
          </a:prstGeom>
          <a:noFill/>
          <a:ln w="12700">
            <a:solidFill>
              <a:srgbClr val="8A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88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188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/settings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7368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3312" y="5998464"/>
            <a:ext cx="2170176" cy="329184"/>
          </a:xfrm>
          <a:prstGeom prst="roundRect">
            <a:avLst>
              <a:gd name="adj" fmla="val 16667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0160" y="5998464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1783080"/>
            <a:ext cx="3108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1874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游戏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操作提示开关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2240280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22402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2551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动画开关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63240" y="25328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12700">
            <a:solidFill>
              <a:srgbClr val="A79E8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063240" y="2532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2862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更多变体 / 自定义规则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63240" y="282549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12700">
            <a:solidFill>
              <a:srgbClr val="A79E8D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063240" y="2825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69080" y="1783080"/>
            <a:ext cx="3108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1874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33672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音效开关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2240280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2402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33672" y="2551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音量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253288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53288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3355848"/>
            <a:ext cx="3108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34472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6112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63240" y="38130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12700">
            <a:solidFill>
              <a:srgbClr val="A79E8D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3063240" y="3813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6112" y="4123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棋盘 / 棋子样式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63240" y="410565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12700">
            <a:solidFill>
              <a:srgbClr val="A79E8D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063240" y="4105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069080" y="3355848"/>
            <a:ext cx="3108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33672" y="34472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233672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默认服务器地址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0" y="381304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81304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233672" y="4123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重连令牌管理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00800" y="410565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12700">
            <a:solidFill>
              <a:srgbClr val="A79E8D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6400800" y="4105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31520" y="4928616"/>
            <a:ext cx="3108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" y="50200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96112" y="5385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 v0.3.0-ws-client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063240" y="5385816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63240" y="538581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96112" y="5696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项目信息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063240" y="567842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63240" y="567842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069080" y="4937760"/>
            <a:ext cx="3108960" cy="1280160"/>
          </a:xfrm>
          <a:prstGeom prst="roundRect">
            <a:avLst>
              <a:gd name="adj" fmla="val 3571"/>
            </a:avLst>
          </a:prstGeom>
          <a:solidFill>
            <a:srgbClr val="F3F1EC"/>
          </a:solidFill>
          <a:ln w="15875">
            <a:solidFill>
              <a:srgbClr val="A79E8D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4251960" y="50749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12700">
            <a:solidFill>
              <a:srgbClr val="A79E8D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4251960" y="5074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074920" y="5074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账号 / 用户资料 —— 依赖账号体系，本产品阶段明确不实现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1381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8138160" y="16916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音效开关/音量：soundManager 已具备，仅缺 UI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8138160" y="235000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默认服务器：喂给房间页表单默认值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8138160" y="30083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外观项：资源层 registry 已就绪，换肤只改资源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8138160" y="366674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设置持久化用 localStorage，不引入数据库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8138160" y="432511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所有 Future 项仅呈现灰显占位，不可点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布局 · PC 与移动横屏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棋盘优先；信息分区在两端同构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PC（≥1024px）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120640" cy="365760"/>
          </a:xfrm>
          <a:prstGeom prst="roundRect">
            <a:avLst>
              <a:gd name="adj" fmla="val 12500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5120640" cy="502920"/>
          </a:xfrm>
          <a:prstGeom prst="roundRect">
            <a:avLst>
              <a:gd name="adj" fmla="val 9091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94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Players 三卡横排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3291840" cy="1920240"/>
          </a:xfrm>
          <a:prstGeom prst="roundRect">
            <a:avLst>
              <a:gd name="adj" fmla="val 2381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9718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71016" y="29718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27632" y="29718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84248" y="29718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0864" y="29718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29718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54096" y="29718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10712" y="29718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32841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71016" y="332841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27632" y="332841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84248" y="332841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0864" y="332841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7480" y="332841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54096" y="332841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0712" y="332841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368503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71016" y="368503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27632" y="368503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84248" y="368503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40864" y="368503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7480" y="368503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54096" y="368503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10712" y="368503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40416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71016" y="40416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27632" y="40416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84248" y="40416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40864" y="40416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7480" y="40416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54096" y="40416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10712" y="40416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69080" y="2788920"/>
            <a:ext cx="1691640" cy="1920240"/>
          </a:xfrm>
          <a:prstGeom prst="roundRect">
            <a:avLst>
              <a:gd name="adj" fmla="val 2703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GameStatus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0080" y="4709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board = 视觉主体，状态列伴右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0" y="1280160"/>
            <a:ext cx="5330952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Mobile 横屏（棋盘优先）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583680" y="1737360"/>
            <a:ext cx="4965192" cy="347472"/>
          </a:xfrm>
          <a:prstGeom prst="roundRect">
            <a:avLst>
              <a:gd name="adj" fmla="val 13158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1737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Header 单行：← · 房间 · ● · ⚙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583680" y="2139696"/>
            <a:ext cx="4965192" cy="310896"/>
          </a:xfrm>
          <a:prstGeom prst="roundRect">
            <a:avLst>
              <a:gd name="adj" fmla="val 14706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20840" y="21396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玩家压缩为单行 chips：A ●当前 ｜ B ｜ C 已淘汰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858000" y="2523744"/>
            <a:ext cx="438912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86600" y="2670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71232" y="2670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55864" y="2670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40496" y="2670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25128" y="2670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09760" y="2670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94392" y="2670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479024" y="2670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86600" y="31546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71232" y="31546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55864" y="31546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40496" y="31546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25128" y="31546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509760" y="31546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994392" y="31546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79024" y="31546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086600" y="363931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71232" y="363931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55864" y="363931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540496" y="363931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25128" y="363931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509760" y="363931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994392" y="363931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79024" y="363931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86600" y="412394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571232" y="412394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55864" y="412394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540496" y="412394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025128" y="412394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09760" y="412394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94392" y="412394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479024" y="412394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FE8DA"/>
          </a:solidFill>
          <a:ln w="9525">
            <a:solidFill>
              <a:srgbClr val="C9BCA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583680" y="4334256"/>
            <a:ext cx="4965192" cy="365760"/>
          </a:xfrm>
          <a:prstGeom prst="roundRect">
            <a:avLst>
              <a:gd name="adj" fmla="val 12500"/>
            </a:avLst>
          </a:prstGeom>
          <a:solidFill>
            <a:srgbClr val="F6F2E9"/>
          </a:solidFill>
          <a:ln w="15875">
            <a:solidFill>
              <a:srgbClr val="8A6D3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720840" y="43342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状态条：轮到玩家B · 第12手 · 未吃子 12/40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6400800" y="5120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横屏布局原则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6400800" y="537667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棋盘格 --cell-size 随视口缩放（现有机制保留），棋盘永远完整可见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6400800" y="57058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玩家信息压缩为单行 chips，不挤压棋盘高度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6400800" y="603504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Toast 顶部出现、自动消失，不遮挡棋盘格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6400800" y="6364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联机状态收进 Header 图标，点击展开详情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导航 · 页面跳转关系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点击这里之后去哪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270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29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8A6D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98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GamePage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009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本地双人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8A6D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788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GamePage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581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本地三人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146304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527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联机模式选择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1929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/online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283464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8986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房间页 3P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33009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411480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41788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房间页 2P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45811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237744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8A6D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24414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GamePage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9520" y="2843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联机态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420624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4270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断线/重连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0" y="4672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恢复座位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58400" y="2377440"/>
            <a:ext cx="16459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0" y="24414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49840" y="2843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/settings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8800" y="2240280"/>
            <a:ext cx="-640080" cy="59436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828800" y="2240280"/>
            <a:ext cx="-640080" cy="187452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331720" y="2240280"/>
            <a:ext cx="1874520" cy="-393192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166360" y="2240280"/>
            <a:ext cx="0" cy="59436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166360" y="2240280"/>
            <a:ext cx="0" cy="1874520"/>
          </a:xfrm>
          <a:prstGeom prst="line">
            <a:avLst/>
          </a:prstGeom>
          <a:noFill/>
          <a:ln w="25400">
            <a:solidFill>
              <a:srgbClr val="8A6D3B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126480" y="3200400"/>
            <a:ext cx="1371600" cy="-27432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126480" y="4480560"/>
            <a:ext cx="1371600" cy="91440"/>
          </a:xfrm>
          <a:prstGeom prst="line">
            <a:avLst/>
          </a:prstGeom>
          <a:noFill/>
          <a:ln w="25400">
            <a:solidFill>
              <a:srgbClr val="8A6D3B"/>
            </a:solidFill>
            <a:prstDash val="dash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412480" y="3154680"/>
            <a:ext cx="0" cy="105156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412480" y="4206240"/>
            <a:ext cx="-914400" cy="-118872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326880" y="2761488"/>
            <a:ext cx="7315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626364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满员开局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6384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重连回原座位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372600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Header ⚙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5577840"/>
            <a:ext cx="11274552" cy="822960"/>
          </a:xfrm>
          <a:prstGeom prst="roundRect">
            <a:avLst>
              <a:gd name="adj" fmla="val 5556"/>
            </a:avLst>
          </a:prstGeom>
          <a:solidFill>
            <a:srgbClr val="F3F1EC"/>
          </a:solidFill>
          <a:ln w="15875">
            <a:solidFill>
              <a:srgbClr val="A79E8D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79E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 路径：快速匹配（联机tab）· 观战（房间页席位 → GamePage 观战态）· 对局记录/复盘（首页 Future 区 → 复盘页）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DarkChess · UI 信息架构 · 低保真施工图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547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演进路径 · 从当前 UI 到目标骨架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三步走：每一步都不破坏现有功能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1188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4475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44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1 · 骨架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新增首页 + 底部导航 + 设置壳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游戏页顶部模式按钮移除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四入口全部可点（2P 联机标注 Future）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改动层：App / 新增 2 页壳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96512" y="2468880"/>
            <a:ext cx="219456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43400" y="1280160"/>
            <a:ext cx="361188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44475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444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2 · GamePage 分区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19659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Header / Players / Board / GameStatus 分区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24231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StatusBar 拆分；调试信息入 DebugPanel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880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Toast/Overlay 体系归位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改动层：GameView 内重排，6 组件全复用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82712" y="2468880"/>
            <a:ext cx="219456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29600" y="1280160"/>
            <a:ext cx="361188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22225">
            <a:solidFill>
              <a:srgbClr val="8A6D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144475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1444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3 · 设置与联机 2P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19659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音效开关/音量、默认服务器实装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24231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联机 2P 入口启用（服务端已支持）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2880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和棋进度读当前 mode 阈值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93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改动层：设置页实装 + seatIds 接线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 功能占位地图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43407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好友房 / 邀请 / 房间密码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联机房间页（虚线区）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快速匹配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联机模式选择页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观战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房间页席位 → GamePage 观战态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最近对局 / 继续对局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首页 Future 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对局记录 / 复盘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首页入口（复用 actionLog）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好友 / 账号 / 资料页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设置-账号（本阶段明确不做）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更多变体 / 自定义规则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首页（变体入口）+ 设置-游戏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6D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验收标准：只看本架构即可回答“新功能放哪个页面”；本原型即为下一阶段 UI 实现的施工依据。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DarkChess UI 信息架构与低保真原型 v0.1</dc:title>
  <dc:subject>PptxGenJS Presentation</dc:subject>
  <dc:creator>DarkChess</dc:creator>
  <cp:lastModifiedBy>DarkChess</cp:lastModifiedBy>
  <cp:revision>1</cp:revision>
  <dcterms:created xsi:type="dcterms:W3CDTF">2026-09-11T16:03:18Z</dcterms:created>
  <dcterms:modified xsi:type="dcterms:W3CDTF">2026-09-11T16:03:18Z</dcterms:modified>
</cp:coreProperties>
</file>